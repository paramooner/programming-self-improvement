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>
        <p:scale>
          <a:sx n="100" d="100"/>
          <a:sy n="100" d="100"/>
        </p:scale>
        <p:origin x="-1668" y="-9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>
            <a:extLst>
              <a:ext uri="{FF2B5EF4-FFF2-40B4-BE49-F238E27FC236}">
                <a16:creationId xmlns:a16="http://schemas.microsoft.com/office/drawing/2014/main" id="{E97078E0-EC1B-048C-7A94-61A35478EF1E}"/>
              </a:ext>
            </a:extLst>
          </p:cNvPr>
          <p:cNvSpPr/>
          <p:nvPr/>
        </p:nvSpPr>
        <p:spPr>
          <a:xfrm>
            <a:off x="3418012" y="3307297"/>
            <a:ext cx="4320480" cy="1224136"/>
          </a:xfrm>
          <a:prstGeom prst="ellipse">
            <a:avLst/>
          </a:prstGeom>
          <a:solidFill>
            <a:schemeClr val="bg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弧形 7">
            <a:extLst>
              <a:ext uri="{FF2B5EF4-FFF2-40B4-BE49-F238E27FC236}">
                <a16:creationId xmlns:a16="http://schemas.microsoft.com/office/drawing/2014/main" id="{10FB1EBF-AE87-D3FC-0DD7-6A4460340C17}"/>
              </a:ext>
            </a:extLst>
          </p:cNvPr>
          <p:cNvSpPr/>
          <p:nvPr/>
        </p:nvSpPr>
        <p:spPr>
          <a:xfrm>
            <a:off x="3418012" y="1898640"/>
            <a:ext cx="4320480" cy="4041449"/>
          </a:xfrm>
          <a:prstGeom prst="arc">
            <a:avLst>
              <a:gd name="adj1" fmla="val 10853524"/>
              <a:gd name="adj2" fmla="val 0"/>
            </a:avLst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6CC8350F-DFD2-B43D-E8F0-FC8F73E21245}"/>
              </a:ext>
            </a:extLst>
          </p:cNvPr>
          <p:cNvCxnSpPr>
            <a:cxnSpLocks/>
            <a:stCxn id="4" idx="2"/>
            <a:endCxn id="4" idx="6"/>
          </p:cNvCxnSpPr>
          <p:nvPr/>
        </p:nvCxnSpPr>
        <p:spPr>
          <a:xfrm>
            <a:off x="3418012" y="3919365"/>
            <a:ext cx="4320480" cy="0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BB21364C-FE9F-C9F2-9A6F-01C14F77CCF9}"/>
              </a:ext>
            </a:extLst>
          </p:cNvPr>
          <p:cNvCxnSpPr>
            <a:cxnSpLocks/>
          </p:cNvCxnSpPr>
          <p:nvPr/>
        </p:nvCxnSpPr>
        <p:spPr>
          <a:xfrm>
            <a:off x="5578253" y="620688"/>
            <a:ext cx="0" cy="3321536"/>
          </a:xfrm>
          <a:prstGeom prst="line">
            <a:avLst/>
          </a:prstGeom>
          <a:ln w="22225">
            <a:solidFill>
              <a:schemeClr val="tx1"/>
            </a:solidFill>
            <a:head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流程图: 接点 30">
            <a:extLst>
              <a:ext uri="{FF2B5EF4-FFF2-40B4-BE49-F238E27FC236}">
                <a16:creationId xmlns:a16="http://schemas.microsoft.com/office/drawing/2014/main" id="{10A0970E-95EB-0F05-9FE6-DCBE50DD7E91}"/>
              </a:ext>
            </a:extLst>
          </p:cNvPr>
          <p:cNvSpPr/>
          <p:nvPr/>
        </p:nvSpPr>
        <p:spPr>
          <a:xfrm>
            <a:off x="5555393" y="3896505"/>
            <a:ext cx="45719" cy="45719"/>
          </a:xfrm>
          <a:prstGeom prst="flowChartConnector">
            <a:avLst/>
          </a:prstGeom>
          <a:solidFill>
            <a:schemeClr val="tx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7965B4ED-FE38-0002-88A3-5FA604C4D991}"/>
              </a:ext>
            </a:extLst>
          </p:cNvPr>
          <p:cNvCxnSpPr>
            <a:cxnSpLocks/>
            <a:stCxn id="4" idx="6"/>
            <a:endCxn id="4" idx="2"/>
          </p:cNvCxnSpPr>
          <p:nvPr/>
        </p:nvCxnSpPr>
        <p:spPr>
          <a:xfrm flipH="1">
            <a:off x="3418012" y="3919365"/>
            <a:ext cx="4320480" cy="0"/>
          </a:xfrm>
          <a:prstGeom prst="line">
            <a:avLst/>
          </a:prstGeom>
          <a:ln w="2222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流程图: 接点 37">
            <a:extLst>
              <a:ext uri="{FF2B5EF4-FFF2-40B4-BE49-F238E27FC236}">
                <a16:creationId xmlns:a16="http://schemas.microsoft.com/office/drawing/2014/main" id="{D150E30D-873B-37B6-5E96-4AE85E38AAFF}"/>
              </a:ext>
            </a:extLst>
          </p:cNvPr>
          <p:cNvSpPr/>
          <p:nvPr/>
        </p:nvSpPr>
        <p:spPr>
          <a:xfrm rot="5400000">
            <a:off x="5555392" y="3896907"/>
            <a:ext cx="45719" cy="45719"/>
          </a:xfrm>
          <a:prstGeom prst="flowChartConnector">
            <a:avLst/>
          </a:prstGeom>
          <a:solidFill>
            <a:schemeClr val="tx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726E9359-A2B5-1145-123C-0360B6943977}"/>
              </a:ext>
            </a:extLst>
          </p:cNvPr>
          <p:cNvCxnSpPr>
            <a:cxnSpLocks/>
          </p:cNvCxnSpPr>
          <p:nvPr/>
        </p:nvCxnSpPr>
        <p:spPr>
          <a:xfrm flipH="1">
            <a:off x="4943872" y="3105965"/>
            <a:ext cx="1547208" cy="1403858"/>
          </a:xfrm>
          <a:prstGeom prst="line">
            <a:avLst/>
          </a:prstGeom>
          <a:ln w="22225">
            <a:solidFill>
              <a:schemeClr val="tx1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流程图: 接点 40">
            <a:extLst>
              <a:ext uri="{FF2B5EF4-FFF2-40B4-BE49-F238E27FC236}">
                <a16:creationId xmlns:a16="http://schemas.microsoft.com/office/drawing/2014/main" id="{880F07B0-A54B-C4CB-F118-033149FA29B9}"/>
              </a:ext>
            </a:extLst>
          </p:cNvPr>
          <p:cNvSpPr/>
          <p:nvPr/>
        </p:nvSpPr>
        <p:spPr>
          <a:xfrm rot="3600000">
            <a:off x="5555392" y="3896504"/>
            <a:ext cx="45719" cy="45719"/>
          </a:xfrm>
          <a:prstGeom prst="flowChartConnector">
            <a:avLst/>
          </a:prstGeom>
          <a:solidFill>
            <a:schemeClr val="tx1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9811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8DFB5-C8E2-4364-C6D0-ABB404273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99F8266-AF53-CA65-0AD3-8BA88B25F6D2}"/>
                  </a:ext>
                </a:extLst>
              </p:cNvPr>
              <p:cNvSpPr txBox="1"/>
              <p:nvPr/>
            </p:nvSpPr>
            <p:spPr>
              <a:xfrm>
                <a:off x="2639616" y="849486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dirty="0" smtClean="0">
                          <a:effectLst/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,1,2,3,4,5,6,7,8,9</m:t>
                      </m:r>
                    </m:oMath>
                  </m:oMathPara>
                </a14:m>
                <a:endParaRPr lang="zh-CN" altLang="zh-CN" dirty="0">
                  <a:effectLst/>
                  <a:latin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499F8266-AF53-CA65-0AD3-8BA88B25F6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616" y="849486"/>
                <a:ext cx="6097604" cy="36933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461028A-05A3-2367-98C5-4FF71793B7F5}"/>
                  </a:ext>
                </a:extLst>
              </p:cNvPr>
              <p:cNvSpPr txBox="1"/>
              <p:nvPr/>
            </p:nvSpPr>
            <p:spPr>
              <a:xfrm>
                <a:off x="3719736" y="1619508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𝑔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𝑙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𝑞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zh-CN" altLang="zh-CN" dirty="0">
                  <a:effectLst/>
                  <a:latin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4461028A-05A3-2367-98C5-4FF71793B7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9736" y="1619508"/>
                <a:ext cx="6097604" cy="369332"/>
              </a:xfrm>
              <a:prstGeom prst="rect">
                <a:avLst/>
              </a:prstGeom>
              <a:blipFill>
                <a:blip r:embed="rId3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2E1F35E-8139-8AFE-2F8D-32D6CD5BA320}"/>
                  </a:ext>
                </a:extLst>
              </p:cNvPr>
              <p:cNvSpPr txBox="1"/>
              <p:nvPr/>
            </p:nvSpPr>
            <p:spPr>
              <a:xfrm>
                <a:off x="2567608" y="2420888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>
                          <a:effectLst/>
                          <a:latin typeface="Cambria Math" panose="02040503050406030204" pitchFamily="18" charset="0"/>
                        </a:rPr>
                        <m:t>𝑍</m:t>
                      </m:r>
                    </m:oMath>
                  </m:oMathPara>
                </a14:m>
                <a:endParaRPr lang="zh-CN" altLang="zh-CN" dirty="0">
                  <a:effectLst/>
                  <a:latin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2E1F35E-8139-8AFE-2F8D-32D6CD5BA3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608" y="2420888"/>
                <a:ext cx="6097604" cy="369332"/>
              </a:xfrm>
              <a:prstGeom prst="rect">
                <a:avLst/>
              </a:prstGeom>
              <a:blipFill>
                <a:blip r:embed="rId4"/>
                <a:stretch>
                  <a:fillRect r="-3000"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792160B-756A-0B31-28A6-AD4C03695E56}"/>
                  </a:ext>
                </a:extLst>
              </p:cNvPr>
              <p:cNvSpPr txBox="1"/>
              <p:nvPr/>
            </p:nvSpPr>
            <p:spPr>
              <a:xfrm>
                <a:off x="2351584" y="3429000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dirty="0" smtClean="0">
                          <a:effectLst/>
                          <a:latin typeface="Cambria Math" panose="02040503050406030204" pitchFamily="18" charset="0"/>
                        </a:rPr>
                        <m:t>𝒜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ℬ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𝒞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𝒟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ℰ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ℱ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𝒢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ℋ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ℐ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𝒥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𝒦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ℳ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𝒩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𝒪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𝒬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ℛ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𝒮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𝒯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𝒰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𝒱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𝒲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𝒳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𝒴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𝒵</m:t>
                      </m:r>
                    </m:oMath>
                  </m:oMathPara>
                </a14:m>
                <a:endParaRPr lang="zh-CN" altLang="zh-CN" dirty="0">
                  <a:effectLst/>
                  <a:latin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E792160B-756A-0B31-28A6-AD4C03695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1584" y="3429000"/>
                <a:ext cx="6097604" cy="369332"/>
              </a:xfrm>
              <a:prstGeom prst="rect">
                <a:avLst/>
              </a:prstGeom>
              <a:blipFill>
                <a:blip r:embed="rId5"/>
                <a:stretch>
                  <a:fillRect r="-12600" b="-10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F6AD2AD-311C-C4A9-17C1-9BD2F2541AB6}"/>
                  </a:ext>
                </a:extLst>
              </p:cNvPr>
              <p:cNvSpPr txBox="1"/>
              <p:nvPr/>
            </p:nvSpPr>
            <p:spPr>
              <a:xfrm>
                <a:off x="2639616" y="4469453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b="1" dirty="0" smtClean="0">
                          <a:effectLst/>
                          <a:latin typeface="Cambria Math" panose="02040503050406030204" pitchFamily="18" charset="0"/>
                        </a:rPr>
                        <m:t>𝐚</m:t>
                      </m:r>
                      <m:r>
                        <a:rPr lang="zh-CN" altLang="zh-CN" b="0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b="1" i="0" dirty="0">
                          <a:effectLst/>
                          <a:latin typeface="Cambria Math" panose="02040503050406030204" pitchFamily="18" charset="0"/>
                        </a:rPr>
                        <m:t>𝐛</m:t>
                      </m:r>
                      <m:r>
                        <a:rPr lang="zh-CN" altLang="zh-CN" b="0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b="1" i="0" dirty="0">
                          <a:effectLst/>
                          <a:latin typeface="Cambria Math" panose="02040503050406030204" pitchFamily="18" charset="0"/>
                        </a:rPr>
                        <m:t>𝐱</m:t>
                      </m:r>
                      <m:r>
                        <a:rPr lang="zh-CN" altLang="zh-CN" b="0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b="1" i="0" dirty="0">
                          <a:effectLst/>
                          <a:latin typeface="Cambria Math" panose="02040503050406030204" pitchFamily="18" charset="0"/>
                        </a:rPr>
                        <m:t>𝐲</m:t>
                      </m:r>
                      <m:r>
                        <a:rPr lang="zh-CN" altLang="zh-CN" b="0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b="1" i="0" dirty="0">
                          <a:effectLst/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zh-CN" altLang="zh-CN" b="0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b="1" i="0" dirty="0">
                          <a:effectLst/>
                          <a:latin typeface="Cambria Math" panose="02040503050406030204" pitchFamily="18" charset="0"/>
                        </a:rPr>
                        <m:t>𝐁</m:t>
                      </m:r>
                      <m:r>
                        <a:rPr lang="zh-CN" altLang="zh-CN" b="0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b="1" i="0" dirty="0">
                          <a:effectLst/>
                          <a:latin typeface="Cambria Math" panose="02040503050406030204" pitchFamily="18" charset="0"/>
                        </a:rPr>
                        <m:t>𝐌</m:t>
                      </m:r>
                      <m:r>
                        <a:rPr lang="zh-CN" altLang="zh-CN" b="0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b="1" i="0" dirty="0">
                          <a:effectLst/>
                          <a:latin typeface="Cambria Math" panose="02040503050406030204" pitchFamily="18" charset="0"/>
                        </a:rPr>
                        <m:t>𝐍</m:t>
                      </m:r>
                    </m:oMath>
                  </m:oMathPara>
                </a14:m>
                <a:endParaRPr lang="zh-CN" altLang="zh-CN" dirty="0">
                  <a:effectLst/>
                  <a:latin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2F6AD2AD-311C-C4A9-17C1-9BD2F2541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9616" y="4469453"/>
                <a:ext cx="6097604" cy="369332"/>
              </a:xfrm>
              <a:prstGeom prst="rect">
                <a:avLst/>
              </a:prstGeom>
              <a:blipFill>
                <a:blip r:embed="rId6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098D70E-3AE8-122B-1361-A17A03BC335B}"/>
                  </a:ext>
                </a:extLst>
              </p:cNvPr>
              <p:cNvSpPr txBox="1"/>
              <p:nvPr/>
            </p:nvSpPr>
            <p:spPr>
              <a:xfrm>
                <a:off x="2605325" y="5238492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dirty="0" smtClean="0">
                          <a:effectLst/>
                          <a:latin typeface="Cambria Math" panose="02040503050406030204" pitchFamily="18" charset="0"/>
                        </a:rPr>
                        <m:t>ℕ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ℤ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ℚ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ℝ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ℂ</m:t>
                      </m:r>
                    </m:oMath>
                  </m:oMathPara>
                </a14:m>
                <a:endParaRPr lang="zh-CN" altLang="zh-CN" dirty="0">
                  <a:effectLst/>
                  <a:latin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6098D70E-3AE8-122B-1361-A17A03BC33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325" y="5238492"/>
                <a:ext cx="6097604" cy="369332"/>
              </a:xfrm>
              <a:prstGeom prst="rect">
                <a:avLst/>
              </a:prstGeom>
              <a:blipFill>
                <a:blip r:embed="rId7"/>
                <a:stretch>
                  <a:fillRect b="-819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222804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4ACAA86-05D8-4133-BA76-B24C74F7F874}"/>
                  </a:ext>
                </a:extLst>
              </p:cNvPr>
              <p:cNvSpPr txBox="1"/>
              <p:nvPr/>
            </p:nvSpPr>
            <p:spPr>
              <a:xfrm>
                <a:off x="119336" y="764704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𝛾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𝜁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𝜂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𝜄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𝜅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𝜆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𝜇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𝜈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𝜊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𝜋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𝜌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𝜎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𝜏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𝜐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𝜒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𝜓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zh-CN" i="1" dirty="0" smtClean="0">
                          <a:effectLst/>
                          <a:latin typeface="Cambria Math" panose="02040503050406030204" pitchFamily="18" charset="0"/>
                        </a:rPr>
                        <m:t>𝜔</m:t>
                      </m:r>
                    </m:oMath>
                  </m:oMathPara>
                </a14:m>
                <a:endParaRPr lang="zh-CN" altLang="zh-CN" dirty="0">
                  <a:effectLst/>
                  <a:latin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84ACAA86-05D8-4133-BA76-B24C74F7F8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36" y="764704"/>
                <a:ext cx="6097604" cy="369332"/>
              </a:xfrm>
              <a:prstGeom prst="rect">
                <a:avLst/>
              </a:prstGeom>
              <a:blipFill>
                <a:blip r:embed="rId2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6BB371F-F710-E1A2-54A8-053A27DE9A60}"/>
                  </a:ext>
                </a:extLst>
              </p:cNvPr>
              <p:cNvSpPr txBox="1"/>
              <p:nvPr/>
            </p:nvSpPr>
            <p:spPr>
              <a:xfrm>
                <a:off x="-240704" y="1484784"/>
                <a:ext cx="609760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zh-CN" altLang="zh-CN" dirty="0" smtClean="0">
                          <a:effectLst/>
                          <a:latin typeface="Cambria Math" panose="02040503050406030204" pitchFamily="18" charset="0"/>
                        </a:rPr>
                        <m:t>Γ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Θ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Λ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Ξ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Υ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Φ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Ψ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sty m:val="p"/>
                        </m:rP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Ω</m:t>
                      </m:r>
                    </m:oMath>
                  </m:oMathPara>
                </a14:m>
                <a:endParaRPr lang="zh-CN" altLang="zh-CN" dirty="0">
                  <a:effectLst/>
                  <a:latin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C6BB371F-F710-E1A2-54A8-053A27DE9A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0704" y="1484784"/>
                <a:ext cx="6097604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83838E2-52EA-214C-AB92-FA997468DE5E}"/>
                  </a:ext>
                </a:extLst>
              </p:cNvPr>
              <p:cNvSpPr txBox="1"/>
              <p:nvPr/>
            </p:nvSpPr>
            <p:spPr>
              <a:xfrm>
                <a:off x="-528736" y="2364559"/>
                <a:ext cx="62179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  <m:t>𝑎𝑏</m:t>
                          </m:r>
                        </m:sub>
                      </m:sSub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sSup>
                        <m:sSupPr>
                          <m:ctrlP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sup>
                      </m:sSup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 </m:t>
                      </m:r>
                      <m:sSubSup>
                        <m:sSubSupPr>
                          <m:ctrlP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 lang="zh-CN" altLang="zh-CN" dirty="0">
                  <a:effectLst/>
                  <a:latin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E83838E2-52EA-214C-AB92-FA997468DE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28736" y="2364559"/>
                <a:ext cx="6217920" cy="369332"/>
              </a:xfrm>
              <a:prstGeom prst="rect">
                <a:avLst/>
              </a:prstGeom>
              <a:blipFill>
                <a:blip r:embed="rId4"/>
                <a:stretch>
                  <a:fillRect b="-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8436037-D886-7A6F-BAB0-6382DA5D744C}"/>
                  </a:ext>
                </a:extLst>
              </p:cNvPr>
              <p:cNvSpPr txBox="1"/>
              <p:nvPr/>
            </p:nvSpPr>
            <p:spPr>
              <a:xfrm>
                <a:off x="-673114" y="2946592"/>
                <a:ext cx="6362298" cy="5954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zh-CN" altLang="zh-CN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f>
                        <m:fPr>
                          <m:ctrlP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  <m:t>𝑦</m:t>
                          </m:r>
                        </m:num>
                        <m:den>
                          <m: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zh-CN" altLang="zh-CN" dirty="0">
                  <a:effectLst/>
                  <a:latin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58436037-D886-7A6F-BAB0-6382DA5D74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73114" y="2946592"/>
                <a:ext cx="6362298" cy="59548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EC7CF8C-5BEF-413E-901E-85BF0A0266E1}"/>
                  </a:ext>
                </a:extLst>
              </p:cNvPr>
              <p:cNvSpPr txBox="1"/>
              <p:nvPr/>
            </p:nvSpPr>
            <p:spPr>
              <a:xfrm>
                <a:off x="-763161" y="3923125"/>
                <a:ext cx="6434488" cy="4019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zh-CN" altLang="zh-CN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ctrlP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3</m:t>
                          </m:r>
                        </m:deg>
                        <m:e>
                          <m: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</m:rad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rad>
                        <m:radPr>
                          <m:ctrlP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  <m:t>𝑛</m:t>
                          </m:r>
                        </m:deg>
                        <m:e>
                          <m: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</m:oMath>
                  </m:oMathPara>
                </a14:m>
                <a:endParaRPr lang="zh-CN" altLang="zh-CN" dirty="0">
                  <a:effectLst/>
                  <a:latin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0EC7CF8C-5BEF-413E-901E-85BF0A0266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763161" y="3923125"/>
                <a:ext cx="6434488" cy="4019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604A3C5-B28A-99C8-DFC7-F539F32091B6}"/>
                  </a:ext>
                </a:extLst>
              </p:cNvPr>
              <p:cNvSpPr txBox="1"/>
              <p:nvPr/>
            </p:nvSpPr>
            <p:spPr>
              <a:xfrm>
                <a:off x="-824332" y="4687514"/>
                <a:ext cx="6477802" cy="585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zh-CN" altLang="zh-CN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begChr m:val="|"/>
                          <m:endChr m:val="|"/>
                          <m:ctrlP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zh-CN" altLang="zh-CN" i="1" dirty="0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zh-CN" i="1" dirty="0">
                                  <a:effectLst/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r>
                                <a:rPr lang="zh-CN" altLang="zh-CN" i="1" dirty="0">
                                  <a:effectLst/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zh-CN" dirty="0">
                  <a:effectLst/>
                  <a:latin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E604A3C5-B28A-99C8-DFC7-F539F32091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824332" y="4687514"/>
                <a:ext cx="6477802" cy="58528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F7DEAC2-1F2F-999F-A7D0-6E1A9265E06B}"/>
                  </a:ext>
                </a:extLst>
              </p:cNvPr>
              <p:cNvSpPr txBox="1"/>
              <p:nvPr/>
            </p:nvSpPr>
            <p:spPr>
              <a:xfrm>
                <a:off x="-960784" y="5723964"/>
                <a:ext cx="651149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dirty="0" smtClean="0">
                          <a:effectLst/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 −,×, ÷, ⋅, ±, ∓</m:t>
                      </m:r>
                    </m:oMath>
                  </m:oMathPara>
                </a14:m>
                <a:endParaRPr lang="zh-CN" altLang="zh-CN" dirty="0">
                  <a:effectLst/>
                  <a:latin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F7DEAC2-1F2F-999F-A7D0-6E1A9265E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60784" y="5723964"/>
                <a:ext cx="6511490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591B0A3-3B3B-5F52-6E5C-4EA98DCB495F}"/>
                  </a:ext>
                </a:extLst>
              </p:cNvPr>
              <p:cNvSpPr txBox="1"/>
              <p:nvPr/>
            </p:nvSpPr>
            <p:spPr>
              <a:xfrm>
                <a:off x="3176783" y="1459813"/>
                <a:ext cx="65788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dirty="0" smtClean="0">
                          <a:effectLst/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 &gt;, ≤, ≥, ≪, ≫, ≠, ≈, ≡</m:t>
                      </m:r>
                    </m:oMath>
                  </m:oMathPara>
                </a14:m>
                <a:endParaRPr lang="zh-CN" altLang="zh-CN" dirty="0">
                  <a:effectLst/>
                  <a:latin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4591B0A3-3B3B-5F52-6E5C-4EA98DCB49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783" y="1459813"/>
                <a:ext cx="6578866" cy="369332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A3B6C54-4EC2-0371-6626-478E440B808B}"/>
                  </a:ext>
                </a:extLst>
              </p:cNvPr>
              <p:cNvSpPr txBox="1"/>
              <p:nvPr/>
            </p:nvSpPr>
            <p:spPr>
              <a:xfrm>
                <a:off x="3176783" y="2250875"/>
                <a:ext cx="65788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dirty="0" smtClean="0">
                          <a:effectLst/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,∉,⊂,⊃,⊆,⊇,∅,∪,∩,∖</m:t>
                      </m:r>
                    </m:oMath>
                  </m:oMathPara>
                </a14:m>
                <a:endParaRPr lang="zh-CN" altLang="zh-CN" dirty="0">
                  <a:effectLst/>
                  <a:latin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5A3B6C54-4EC2-0371-6626-478E440B80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6783" y="2250875"/>
                <a:ext cx="6578866" cy="369332"/>
              </a:xfrm>
              <a:prstGeom prst="rect">
                <a:avLst/>
              </a:prstGeom>
              <a:blipFill>
                <a:blip r:embed="rId10"/>
                <a:stretch>
                  <a:fillRect b="-1147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30BB3A0F-B97A-AB7E-553C-1522C7924B0C}"/>
                  </a:ext>
                </a:extLst>
              </p:cNvPr>
              <p:cNvSpPr txBox="1"/>
              <p:nvPr/>
            </p:nvSpPr>
            <p:spPr>
              <a:xfrm>
                <a:off x="3287688" y="3130650"/>
                <a:ext cx="65788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∠,∡,⊥,∥,△,□,∘,\</m:t>
                      </m:r>
                      <m:r>
                        <a:rPr lang="zh-CN" altLang="zh-CN" i="0" dirty="0" smtClean="0">
                          <a:effectLst/>
                          <a:latin typeface="Cambria Math" panose="02040503050406030204" pitchFamily="18" charset="0"/>
                        </a:rPr>
                        <m:t>𝑑𝑒𝑔𝑟𝑒𝑒</m:t>
                      </m:r>
                    </m:oMath>
                  </m:oMathPara>
                </a14:m>
                <a:endParaRPr lang="zh-CN" altLang="zh-CN" dirty="0">
                  <a:effectLst/>
                  <a:latin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30BB3A0F-B97A-AB7E-553C-1522C7924B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7688" y="3130650"/>
                <a:ext cx="6578866" cy="369332"/>
              </a:xfrm>
              <a:prstGeom prst="rect">
                <a:avLst/>
              </a:prstGeom>
              <a:blipFill>
                <a:blip r:embed="rId11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3A152BB4-AD42-7C61-A769-B63AE50435EC}"/>
                  </a:ext>
                </a:extLst>
              </p:cNvPr>
              <p:cNvSpPr txBox="1"/>
              <p:nvPr/>
            </p:nvSpPr>
            <p:spPr>
              <a:xfrm>
                <a:off x="3283812" y="3808572"/>
                <a:ext cx="657886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zh-CN" i="1" dirty="0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func>
                        <m:funcPr>
                          <m:ctrlP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func>
                        <m:funcPr>
                          <m:ctrlP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tan</m:t>
                          </m:r>
                        </m:fName>
                        <m:e>
                          <m: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func>
                        <m:funcPr>
                          <m:ctrlP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cot</m:t>
                          </m:r>
                        </m:fName>
                        <m:e>
                          <m: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func>
                        <m:funcPr>
                          <m:ctrlP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sec</m:t>
                          </m:r>
                        </m:fName>
                        <m:e>
                          <m: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func>
                        <m:funcPr>
                          <m:ctrlP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csc</m:t>
                          </m:r>
                        </m:fName>
                        <m:e>
                          <m: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func>
                        <m:funcPr>
                          <m:ctrlP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arcsin</m:t>
                          </m:r>
                        </m:fName>
                        <m:e>
                          <m: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func>
                        <m:funcPr>
                          <m:ctrlPr>
                            <a:rPr lang="zh-CN" altLang="zh-CN" i="1" dirty="0">
                              <a:effectLst/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arccos</m:t>
                          </m:r>
                        </m:fName>
                        <m:e>
                          <m:r>
                            <a:rPr lang="zh-CN" altLang="zh-CN" i="0" dirty="0">
                              <a:effectLst/>
                              <a:latin typeface="Cambria Math" panose="02040503050406030204" pitchFamily="18" charset="0"/>
                            </a:rPr>
                            <m:t>,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altLang="zh-CN" i="0" dirty="0">
                          <a:effectLst/>
                          <a:latin typeface="Cambria Math" panose="02040503050406030204" pitchFamily="18" charset="0"/>
                        </a:rPr>
                        <m:t>arctan</m:t>
                      </m:r>
                    </m:oMath>
                  </m:oMathPara>
                </a14:m>
                <a:endParaRPr lang="zh-CN" altLang="zh-CN" dirty="0">
                  <a:effectLst/>
                  <a:latin typeface="Courier New" panose="02070309020205020404" pitchFamily="49" charset="0"/>
                </a:endParaRPr>
              </a:p>
            </p:txBody>
          </p:sp>
        </mc:Choice>
        <mc:Fallback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3A152BB4-AD42-7C61-A769-B63AE50435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3812" y="3808572"/>
                <a:ext cx="6578866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07156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222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368</Words>
  <Application>Microsoft Office PowerPoint</Application>
  <PresentationFormat>宽屏</PresentationFormat>
  <Paragraphs>17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Arial</vt:lpstr>
      <vt:lpstr>Calibri</vt:lpstr>
      <vt:lpstr>Cambria Math</vt:lpstr>
      <vt:lpstr>Courier New</vt:lpstr>
      <vt:lpstr>Office 主题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全涛 刘</cp:lastModifiedBy>
  <cp:revision>2</cp:revision>
  <dcterms:created xsi:type="dcterms:W3CDTF">2026-07-29T01:51:40Z</dcterms:created>
  <dcterms:modified xsi:type="dcterms:W3CDTF">2026-07-29T05:36:16Z</dcterms:modified>
</cp:coreProperties>
</file>